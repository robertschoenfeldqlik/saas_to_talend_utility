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6.svg" ContentType="image/svg+xml"/>
  <Override PartName="/ppt/media/image18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</p:sldIdLst>
  <p:sldSz cx="12192000" cy="6858000"/>
  <p:notesSz cx="6858000" cy="9144000"/>
  <p:embeddedFontLst>
    <p:embeddedFont>
      <p:font typeface="Inter" panose="02000503000000020004" pitchFamily="2" charset="0"/>
      <p:regular r:id="rId4"/>
      <p:bold r:id="rId5"/>
    </p:embeddedFont>
    <p:embeddedFont>
      <p:font typeface="Inter Light" panose="02000503000000020004" pitchFamily="2" charset="0"/>
      <p:regular r:id="rId6"/>
    </p:embeddedFont>
    <p:embeddedFont>
      <p:font typeface="Inter SemiBold" panose="02000503000000020004" pitchFamily="2" charset="0"/>
      <p:regular r:id="rId7"/>
      <p:bold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845"/>
    <a:srgbClr val="CCEDEC"/>
    <a:srgbClr val="CBD4D8"/>
    <a:srgbClr val="CCCFD5"/>
    <a:srgbClr val="D0E1E6"/>
    <a:srgbClr val="006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29"/>
    <p:restoredTop sz="94694"/>
  </p:normalViewPr>
  <p:slideViewPr>
    <p:cSldViewPr snapToGrid="0">
      <p:cViewPr varScale="1">
        <p:scale>
          <a:sx n="121" d="100"/>
          <a:sy n="121" d="100"/>
        </p:scale>
        <p:origin x="6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520" y="19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customXml" Target="../customXml/item1.xml"/><Relationship Id="rId14" Type="http://schemas.openxmlformats.org/officeDocument/2006/relationships/customXml" Target="../customXml/item2.xml"/><Relationship Id="rId15" Type="http://schemas.openxmlformats.org/officeDocument/2006/relationships/customXml" Target="../customXml/item3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400" b="1">
                <a:solidFill>
                  <a:srgbClr val="19416C"/>
                </a:solidFill>
              </a:rPr>
              <a:t>Auth methods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OAUTH2</c:v>
                </c:pt>
                <c:pt idx="1">
                  <c:v>API_KEY</c:v>
                </c:pt>
                <c:pt idx="2">
                  <c:v>BEARER_TOKEN</c:v>
                </c:pt>
                <c:pt idx="3">
                  <c:v>NO_AUTH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19</c:v>
                </c:pt>
                <c:pt idx="2">
                  <c:v>2</c:v>
                </c:pt>
                <c:pt idx="3">
                  <c:v>13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400" b="1">
                <a:solidFill>
                  <a:srgbClr val="19416C"/>
                </a:solidFill>
              </a:rPr>
              <a:t>Pagination styles (per endpoint)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none</c:v>
                </c:pt>
                <c:pt idx="1">
                  <c:v>offset</c:v>
                </c:pt>
                <c:pt idx="2">
                  <c:v>cursor</c:v>
                </c:pt>
                <c:pt idx="3">
                  <c:v>page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</c:v>
                </c:pt>
                <c:pt idx="1">
                  <c:v>11</c:v>
                </c:pt>
                <c:pt idx="2">
                  <c:v>4</c:v>
                </c:pt>
                <c:pt idx="3">
                  <c:v>6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B570B7-D69D-8DA2-462B-C878CD3E6A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AE97F9-BA58-23B9-0185-F21B203B3B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43094-6F16-5A21-004B-F387B30DA7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65513-F6F0-B44D-87EC-52ED2F81C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99249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9B17D6-D9A8-D847-8F91-B91B380ED254}" type="datetime1">
              <a:rPr lang="en-US" smtClean="0"/>
              <a:t>4/30/24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E009A8-0C93-E046-9A12-3E9DA893E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23752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2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2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D5D63AA0-83D5-6AD3-2D92-4C78A0C59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77" y="0"/>
            <a:ext cx="12192000" cy="6858000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3FC4B43D-40E5-215E-199A-669555AB43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Overarching cover slide for all uses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6F1F0BF3-9EE8-74E5-293F-EE8C88481C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29AF862F-D761-E769-9D25-E9A3110303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31C66497-2842-3EEA-AAA4-9E1F67E927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C19CD83D-10D9-5471-79E0-A813BEB5A2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434EEFA-9B63-F89B-7B17-B6F8912D3E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23111" y="283678"/>
            <a:ext cx="1741194" cy="96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47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F75CD2DC-51AA-9BE9-DE02-96565C25B2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77" y="0"/>
            <a:ext cx="12192000" cy="6858000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3FC4B43D-40E5-215E-199A-669555AB43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Overarching cover slide for all uses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6F1F0BF3-9EE8-74E5-293F-EE8C88481C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29AF862F-D761-E769-9D25-E9A3110303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31C66497-2842-3EEA-AAA4-9E1F67E927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C19CD83D-10D9-5471-79E0-A813BEB5A2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F84F53E-8603-BFDE-B2F4-554C1A4BA2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23111" y="287095"/>
            <a:ext cx="1741195" cy="96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417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34B9C-16AD-6247-87EF-1591C4E80E8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Analytics cover slide for analytics presentations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45E54-7E07-7B9B-3D30-CE879F2ADA4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D6B88179-8E19-AEEA-7C12-2193874EC8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52DBD6C-6393-4015-5BE5-E756963B7F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1065577-E891-979D-F5BB-7C6B755F9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9C2FCF2-4E29-EED1-5D84-0DBE995AEA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38" t="38097" r="41958" b="-1231"/>
          <a:stretch/>
        </p:blipFill>
        <p:spPr>
          <a:xfrm>
            <a:off x="6293224" y="1"/>
            <a:ext cx="5898776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5AB4620-118E-B232-6E87-74157253DC0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3111" y="283678"/>
            <a:ext cx="1741194" cy="96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999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11AD-FACA-FA16-6AC9-88E59FF0C3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Data Integration cover slide for data integration presentations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DE177-0CE5-27BE-8C59-49539DD2AB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E76B6C2-3112-C5F8-6521-C2E70AEE3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95ECAD9-4262-FC9E-09C4-0939165C2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820A854-FAFA-CC16-19D4-D65B9D1CDD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BC3EC8C-B7FA-1224-8356-981FA134E3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87201CC-6F60-363F-A04E-409C2EEF4A9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3111" y="287095"/>
            <a:ext cx="1741195" cy="96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71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BF5B6-794E-B35A-3AC9-931068BA4C6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AI cover slide for presentations that cover AI or ML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B40B1CE-D8D7-DC6F-4390-31D68358CA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BD5FEE04-5C39-AEEF-053B-98E65F7B67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5ABBDE62-C7C2-4B81-0FA5-34AB4C74A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48D6B784-4CBC-0915-02F6-2B8E4889D3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68682DB-2182-5096-B24B-89DA74D31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41" t="4866" r="33235" b="20027"/>
          <a:stretch/>
        </p:blipFill>
        <p:spPr>
          <a:xfrm>
            <a:off x="6400800" y="0"/>
            <a:ext cx="57912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F1CEE5F-2B81-6CF8-CDEA-8E9779FEB7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3111" y="283678"/>
            <a:ext cx="1741194" cy="96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214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11AD-FACA-FA16-6AC9-88E59FF0C3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Data quality cover slide for data quality &amp; governance presentations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DE177-0CE5-27BE-8C59-49539DD2AB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E76B6C2-3112-C5F8-6521-C2E70AEE3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95ECAD9-4262-FC9E-09C4-0939165C2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820A854-FAFA-CC16-19D4-D65B9D1CDD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B19FDE6-D5B9-DB4F-2322-54FB6A1E06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431" t="14680" r="27945" b="33127"/>
          <a:stretch/>
        </p:blipFill>
        <p:spPr>
          <a:xfrm>
            <a:off x="6591300" y="0"/>
            <a:ext cx="5600700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0C3FE82-F676-639F-F2FD-868BBC2F561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3111" y="287095"/>
            <a:ext cx="1741195" cy="96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8131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73F66079-37BB-86DD-F9F3-FD9EF2D9DC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231551"/>
            <a:ext cx="5645426" cy="187513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Overarching divider slide for all uses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4261323"/>
            <a:ext cx="5645427" cy="876734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62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28AD91B8-3334-630B-BD66-9DDD0FB55C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1" y="2584918"/>
            <a:ext cx="5645426" cy="146366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Overarching divider slide for all uses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1" y="4203220"/>
            <a:ext cx="5645427" cy="876734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</p:spTree>
    <p:extLst>
      <p:ext uri="{BB962C8B-B14F-4D97-AF65-F5344CB8AC3E}">
        <p14:creationId xmlns:p14="http://schemas.microsoft.com/office/powerpoint/2010/main" val="2716994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0" y="2584918"/>
            <a:ext cx="6396543" cy="146366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Analytics divider slide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1" y="4203220"/>
            <a:ext cx="5645427" cy="876734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7449D2D-1DE2-A12B-DF18-8F2A463EB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8950" t="26968" r="7310" b="26967"/>
          <a:stretch/>
        </p:blipFill>
        <p:spPr>
          <a:xfrm flipH="1">
            <a:off x="7168924" y="1"/>
            <a:ext cx="50230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538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231551"/>
            <a:ext cx="5645426" cy="187513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Data Integration divider slide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4261323"/>
            <a:ext cx="5645427" cy="876734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B7888F5-ED04-B7C0-428C-F88F2D92C7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7238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231551"/>
            <a:ext cx="5645426" cy="187513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AI/ML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4261323"/>
            <a:ext cx="5645427" cy="876733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7F54775-4409-FA0E-1918-BDE657018F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3181" t="53449" r="4109" b="2530"/>
          <a:stretch/>
        </p:blipFill>
        <p:spPr>
          <a:xfrm>
            <a:off x="0" y="-1"/>
            <a:ext cx="6095999" cy="628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15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1" y="2584918"/>
            <a:ext cx="5645426" cy="146366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AI/ML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1" y="4203220"/>
            <a:ext cx="5645427" cy="876734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61E1775-A956-58F2-BFA3-F17F4CF652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38580" b="13708"/>
          <a:stretch/>
        </p:blipFill>
        <p:spPr>
          <a:xfrm flipH="1">
            <a:off x="5005180" y="0"/>
            <a:ext cx="71868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96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0058478C-391D-7C7E-2C6A-2ABA668A05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8955" y="772198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15754FC0-BCD4-FF89-6C43-EB0FB0D48C2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8954" y="1084374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6C254C9F-B4F7-BCB1-A3CD-100FAC2287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8954" y="2736589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2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856435AF-B0F2-25D6-2D1E-DA249F6CF9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88953" y="3048765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CAA20ED5-C993-E12B-C725-0C6F829C4E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60080" y="4734675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3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E49D86B6-48D2-C999-6FE3-1FA49C461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0079" y="5046851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8432D35A-5207-5517-8B62-F09F55FF7DF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08481" y="769276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7E926548-E618-967B-2757-DE80AC5DFE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08480" y="1081452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9049CEC8-CF6D-2E4C-1A6B-66BC6879FF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08480" y="2745835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2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6D74E6FE-78EB-9A04-4843-7898E6204A4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08479" y="3058011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44" name="Text Placeholder 24">
            <a:extLst>
              <a:ext uri="{FF2B5EF4-FFF2-40B4-BE49-F238E27FC236}">
                <a16:creationId xmlns:a16="http://schemas.microsoft.com/office/drawing/2014/main" id="{83204BF7-2D57-A4E3-238F-38B7DA49D5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08480" y="4734675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3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5" name="Text Placeholder 24">
            <a:extLst>
              <a:ext uri="{FF2B5EF4-FFF2-40B4-BE49-F238E27FC236}">
                <a16:creationId xmlns:a16="http://schemas.microsoft.com/office/drawing/2014/main" id="{6A4C301D-28CA-8069-8CAF-248ADC83BB2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08479" y="5046851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pic>
        <p:nvPicPr>
          <p:cNvPr id="9" name="Picture 8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DF7D1E1D-A0AB-B3C2-F342-BF4BB539D7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9840"/>
            <a:ext cx="6096000" cy="58789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B38840-7A94-7206-D1BC-A85087AFF8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3" y="6101755"/>
            <a:ext cx="961259" cy="534032"/>
          </a:xfrm>
          <a:prstGeom prst="rect">
            <a:avLst/>
          </a:prstGeom>
        </p:spPr>
      </p:pic>
      <p:pic>
        <p:nvPicPr>
          <p:cNvPr id="21" name="Picture 20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3B048BF8-4C94-4C13-8044-21E9DB3932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342" t="84856"/>
          <a:stretch/>
        </p:blipFill>
        <p:spPr>
          <a:xfrm>
            <a:off x="2246243" y="5829375"/>
            <a:ext cx="9955696" cy="103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12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0058478C-391D-7C7E-2C6A-2ABA668A05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8955" y="769275"/>
            <a:ext cx="2533830" cy="918819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6C254C9F-B4F7-BCB1-A3CD-100FAC2287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8954" y="2734334"/>
            <a:ext cx="2533830" cy="918820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2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CAA20ED5-C993-E12B-C725-0C6F829C4E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60080" y="4708725"/>
            <a:ext cx="2533830" cy="918820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3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8432D35A-5207-5517-8B62-F09F55FF7DF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08480" y="759521"/>
            <a:ext cx="2533830" cy="928575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9049CEC8-CF6D-2E4C-1A6B-66BC6879FF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04322" y="2734335"/>
            <a:ext cx="2533830" cy="877624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2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Text Placeholder 24">
            <a:extLst>
              <a:ext uri="{FF2B5EF4-FFF2-40B4-BE49-F238E27FC236}">
                <a16:creationId xmlns:a16="http://schemas.microsoft.com/office/drawing/2014/main" id="{83204BF7-2D57-A4E3-238F-38B7DA49D5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08480" y="4708725"/>
            <a:ext cx="2533830" cy="918820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3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9" name="Picture 8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DF7D1E1D-A0AB-B3C2-F342-BF4BB539D7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9840"/>
            <a:ext cx="6096000" cy="587891"/>
          </a:xfrm>
          <a:prstGeom prst="rect">
            <a:avLst/>
          </a:prstGeom>
        </p:spPr>
      </p:pic>
      <p:pic>
        <p:nvPicPr>
          <p:cNvPr id="21" name="Picture 20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3B048BF8-4C94-4C13-8044-21E9DB3932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342" t="84856"/>
          <a:stretch/>
        </p:blipFill>
        <p:spPr>
          <a:xfrm>
            <a:off x="2246243" y="5829375"/>
            <a:ext cx="9955696" cy="103856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81939B3B-09E2-4B85-5315-8626D54584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89133" y="6101755"/>
            <a:ext cx="961259" cy="53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393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300C71-73F6-E27E-A89C-C30F052C6E6E}"/>
              </a:ext>
            </a:extLst>
          </p:cNvPr>
          <p:cNvSpPr/>
          <p:nvPr userDrawn="1"/>
        </p:nvSpPr>
        <p:spPr>
          <a:xfrm>
            <a:off x="0" y="0"/>
            <a:ext cx="284710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12CEF313-4E82-4E05-E919-45A6ADE24A6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633234" y="759522"/>
            <a:ext cx="7774996" cy="5338230"/>
          </a:xfrm>
        </p:spPr>
        <p:txBody>
          <a:bodyPr>
            <a:noAutofit/>
          </a:bodyPr>
          <a:lstStyle>
            <a:lvl1pPr>
              <a:buClr>
                <a:schemeClr val="bg2"/>
              </a:buCl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F429545-9952-A80B-8C58-D61954A0FD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3" y="6097752"/>
            <a:ext cx="961259" cy="534032"/>
          </a:xfrm>
          <a:prstGeom prst="rect">
            <a:avLst/>
          </a:prstGeom>
        </p:spPr>
      </p:pic>
      <p:pic>
        <p:nvPicPr>
          <p:cNvPr id="4" name="Picture 3" descr="A green and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CC815499-EBF4-4487-3194-C4879D9616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5610112" cy="147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41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8485D64-40C9-27C1-86DF-DD3B4FC96C0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633233" y="759521"/>
            <a:ext cx="8108193" cy="4537308"/>
          </a:xfrm>
        </p:spPr>
        <p:txBody>
          <a:bodyPr anchor="t">
            <a:noAutofit/>
          </a:bodyPr>
          <a:lstStyle>
            <a:lvl1pPr marL="457200" indent="-4572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24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 dirty="0"/>
              <a:t>Click to enter text</a:t>
            </a:r>
          </a:p>
        </p:txBody>
      </p:sp>
      <p:pic>
        <p:nvPicPr>
          <p:cNvPr id="19" name="Picture 18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0B9A3DA7-829B-DEA1-21F1-97B56CCF9C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9840"/>
            <a:ext cx="6096000" cy="587891"/>
          </a:xfrm>
          <a:prstGeom prst="rect">
            <a:avLst/>
          </a:prstGeom>
        </p:spPr>
      </p:pic>
      <p:pic>
        <p:nvPicPr>
          <p:cNvPr id="7" name="Picture 6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8F4C0CC8-EB18-86FF-6BE9-11ECCB4FF6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342" t="84856"/>
          <a:stretch/>
        </p:blipFill>
        <p:spPr>
          <a:xfrm>
            <a:off x="2246243" y="5829375"/>
            <a:ext cx="9955696" cy="103856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043F06F-FF47-77D0-FD57-5A38BE173A0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89133" y="6101755"/>
            <a:ext cx="961259" cy="53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137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1836431"/>
            <a:ext cx="11291736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6E8D7C-BCD2-BF09-E007-0B3E40E78D8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0A5A4-F7F8-6AE6-7462-D71B5D3F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2F47D7E-344A-96C0-38DE-837E5CE2267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057632"/>
            <a:ext cx="11291736" cy="429208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5" name="Picture 14" descr="A black background with a green line&#10;&#10;Description automatically generated">
            <a:extLst>
              <a:ext uri="{FF2B5EF4-FFF2-40B4-BE49-F238E27FC236}">
                <a16:creationId xmlns:a16="http://schemas.microsoft.com/office/drawing/2014/main" id="{98AAB693-A520-4D1A-8A2F-E96431EBC9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191656" y="1"/>
            <a:ext cx="10000343" cy="758536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908FA4E-4464-0E46-CCCA-B32AA9B8FE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9DBBE2E-0998-460C-49E7-9B5206761C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46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Title, Subtitle and Content w/ Contrai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1836431"/>
            <a:ext cx="11291736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buClr>
                <a:schemeClr val="accent4"/>
              </a:buClr>
              <a:defRPr lang="en-US" dirty="0"/>
            </a:lvl1pPr>
            <a:lvl2pPr>
              <a:buClr>
                <a:schemeClr val="accent4"/>
              </a:buClr>
              <a:defRPr lang="en-US" dirty="0"/>
            </a:lvl2pPr>
            <a:lvl3pPr>
              <a:buClr>
                <a:schemeClr val="accent4"/>
              </a:buClr>
              <a:defRPr lang="en-US" dirty="0"/>
            </a:lvl3pPr>
            <a:lvl4pPr>
              <a:buClr>
                <a:schemeClr val="accent4"/>
              </a:buClr>
              <a:defRPr lang="en-US" dirty="0"/>
            </a:lvl4pPr>
            <a:lvl5pPr>
              <a:buClr>
                <a:schemeClr val="accent4"/>
              </a:buCl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6E8D7C-BCD2-BF09-E007-0B3E40E78D8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0A5A4-F7F8-6AE6-7462-D71B5D3F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2F47D7E-344A-96C0-38DE-837E5CE2267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057632"/>
            <a:ext cx="11291736" cy="429208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5" name="Picture 14" descr="A black background with a green line&#10;&#10;Description automatically generated">
            <a:extLst>
              <a:ext uri="{FF2B5EF4-FFF2-40B4-BE49-F238E27FC236}">
                <a16:creationId xmlns:a16="http://schemas.microsoft.com/office/drawing/2014/main" id="{98AAB693-A520-4D1A-8A2F-E96431EBC9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191656" y="1"/>
            <a:ext cx="10000343" cy="758536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908FA4E-4464-0E46-CCCA-B32AA9B8FE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CE353FC-885A-FC28-034A-8B470B1773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636"/>
            <a:ext cx="795418" cy="44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1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1407221"/>
            <a:ext cx="11291736" cy="462544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6E8D7C-BCD2-BF09-E007-0B3E40E78D8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0A5A4-F7F8-6AE6-7462-D71B5D3F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 descr="A black background with a green line&#10;&#10;Description automatically generated">
            <a:extLst>
              <a:ext uri="{FF2B5EF4-FFF2-40B4-BE49-F238E27FC236}">
                <a16:creationId xmlns:a16="http://schemas.microsoft.com/office/drawing/2014/main" id="{98AAB693-A520-4D1A-8A2F-E96431EBC9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191656" y="1"/>
            <a:ext cx="10000343" cy="758536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908FA4E-4464-0E46-CCCA-B32AA9B8FE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9A7177F-EBD1-3FF1-CF25-25AAAD5CE03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445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1836431"/>
            <a:ext cx="11291736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6E8D7C-BCD2-BF09-E007-0B3E40E78D8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0A5A4-F7F8-6AE6-7462-D71B5D3F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2F47D7E-344A-96C0-38DE-837E5CE2267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057632"/>
            <a:ext cx="11291736" cy="429208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908FA4E-4464-0E46-CCCA-B32AA9B8FE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41E6EAE-B346-57DA-21D4-F8B722AD8D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113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2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1836430"/>
            <a:ext cx="5315225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FA99523-1D08-BFBD-57F6-289CF88497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7089" y="1836430"/>
            <a:ext cx="5314338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Picture 5" descr="A green and black rectangle&#10;&#10;Description automatically generated">
            <a:extLst>
              <a:ext uri="{FF2B5EF4-FFF2-40B4-BE49-F238E27FC236}">
                <a16:creationId xmlns:a16="http://schemas.microsoft.com/office/drawing/2014/main" id="{861C90BE-518E-0670-C419-07FB292B24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529664" y="1"/>
            <a:ext cx="10662335" cy="36512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7796A00-1FEA-D008-F2F8-EABE69AE9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A34EB7B-3727-E8E9-13D8-1DF95DF5DFA9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057632"/>
            <a:ext cx="11291736" cy="429208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9D7EF99A-B069-A312-85ED-251326BBD94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5EFED929-2619-23F4-D192-AB426C52C8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A2C1EA0-A4D1-6CB5-F3AF-8E0CA04A18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1126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2 Content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90" y="1836430"/>
            <a:ext cx="5315224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FA99523-1D08-BFBD-57F6-289CF88497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7088" y="1836430"/>
            <a:ext cx="5314337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0A5A4-F7F8-6AE6-7462-D71B5D3F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4"/>
            <a:ext cx="11291735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2F47D7E-344A-96C0-38DE-837E5CE2267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057631"/>
            <a:ext cx="11291735" cy="429208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C08B33AD-B899-6D5D-9216-5716B03CE76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7B21125A-19CA-D45C-1A96-0CB53E5EF13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BADF283-8D12-2C14-DA6D-7EBF3C7CA6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8132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. Title, Subtitle and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26201" y="479915"/>
            <a:ext cx="5315225" cy="555274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0E0266B-1A00-373C-6E5C-51A494B30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5315225" cy="113286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5C8E2C4-1504-1B5F-4CD1-8404B92491CD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612774"/>
            <a:ext cx="5315225" cy="892383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5" name="Picture 14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1544D8E8-15D0-01C7-9EE4-8B406D01C5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195728" y="122283"/>
            <a:ext cx="11000410" cy="557536"/>
          </a:xfrm>
          <a:prstGeom prst="rect">
            <a:avLst/>
          </a:prstGeom>
        </p:spPr>
      </p:pic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C89A1DB0-6328-ABC6-1D97-AE6EFEC9878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B743715-1667-FBBD-BB01-F8FA3AE050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3903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. Title, Subtitle and Content w/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26200" y="479915"/>
            <a:ext cx="5315225" cy="555274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7AE9BEE-6FA6-042F-21FB-80B2AC262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5315225" cy="113286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30EF14B6-C419-FDB0-239C-8C2A6D55A3D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612774"/>
            <a:ext cx="5315225" cy="892383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Slide Number Placeholder 13">
            <a:extLst>
              <a:ext uri="{FF2B5EF4-FFF2-40B4-BE49-F238E27FC236}">
                <a16:creationId xmlns:a16="http://schemas.microsoft.com/office/drawing/2014/main" id="{3068E4FA-B3AC-5F34-2714-E1E36D50D35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AAAAA52-8570-BB98-76E9-8BD279443D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30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Subtitle and 2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11D73-7A17-30B7-01A0-87E7709CD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340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814B1-633C-E8B0-5941-E1E7F6FA0BD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88" y="1325268"/>
            <a:ext cx="5316110" cy="895732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0B991CD-48C1-C467-6A1C-9119669C56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26201" y="1326918"/>
            <a:ext cx="5316114" cy="89408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7ACD2F3-5CBE-4E9B-4E17-AA641AAFB6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2254413"/>
            <a:ext cx="5316109" cy="380485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0C6141-BBB3-C613-F91D-4A018704B0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6201" y="2251386"/>
            <a:ext cx="5316110" cy="380485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4" name="Picture 23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44CE69C7-AA0C-8790-C757-EBF9B7E1E0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789710"/>
          </a:xfrm>
          <a:prstGeom prst="rect">
            <a:avLst/>
          </a:prstGeom>
        </p:spPr>
      </p:pic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E08B4A01-1405-E3F6-BED0-5A11FB573B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1AFBE57-DC24-166B-BAEA-799A430246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3623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Subtitle and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C3814B1-633C-E8B0-5941-E1E7F6FA0BD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86" y="1325268"/>
            <a:ext cx="3499197" cy="895732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0B991CD-48C1-C467-6A1C-9119669C56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46401" y="1326918"/>
            <a:ext cx="3499197" cy="89408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7ACD2F3-5CBE-4E9B-4E17-AA641AAFB6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90" y="2257440"/>
            <a:ext cx="3499196" cy="380485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0C6141-BBB3-C613-F91D-4A018704B0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46402" y="2254413"/>
            <a:ext cx="3499196" cy="380485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F1A17F7-5DB3-CC7E-7DBA-9D0964A8E52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42228" y="1325268"/>
            <a:ext cx="3499198" cy="89408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69D5E2C-5A7B-A57E-2536-0587472FDD3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43114" y="2252763"/>
            <a:ext cx="3499196" cy="380485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A green and black background&#10;&#10;Description automatically generated">
            <a:extLst>
              <a:ext uri="{FF2B5EF4-FFF2-40B4-BE49-F238E27FC236}">
                <a16:creationId xmlns:a16="http://schemas.microsoft.com/office/drawing/2014/main" id="{F3028C0F-81B5-D95E-D0DD-35A10BF144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78232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01F72C7-7397-45FF-CD1D-D2925B2E9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340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Slide Number Placeholder 13">
            <a:extLst>
              <a:ext uri="{FF2B5EF4-FFF2-40B4-BE49-F238E27FC236}">
                <a16:creationId xmlns:a16="http://schemas.microsoft.com/office/drawing/2014/main" id="{EE4CE6B4-AD4C-E75C-D588-124E938EDE8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2AA1343-69E4-00A1-B60F-C322C11BB1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4119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D2A0828-126E-FEBA-1AB9-20FC24EBC65F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426200" y="0"/>
            <a:ext cx="5765800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EDD544-65D6-FA23-8C90-7D59A1C49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5315225" cy="113286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4B63DB8-E6C7-12FC-DFB9-23C5DC7EF80E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612774"/>
            <a:ext cx="5315225" cy="892383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6C5AAA0-097A-E211-DC9A-BB95EA90DD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9689" y="2809462"/>
            <a:ext cx="5315225" cy="32498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0B350EC-B356-456C-1E0F-62F053685A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384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D2A0828-126E-FEBA-1AB9-20FC24EBC65F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426200" y="0"/>
            <a:ext cx="5765800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EDD544-65D6-FA23-8C90-7D59A1C49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5315225" cy="113286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6C5AAA0-097A-E211-DC9A-BB95EA90DD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9689" y="1948070"/>
            <a:ext cx="5315225" cy="4111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846F02B-D6EC-D033-7D76-94E3759A1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4487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BEC1529-1577-5B5F-A906-24D4A99D1143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619595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722CC027-6B6E-85B0-A8C3-64578F0614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8697E31-C660-9F76-8A94-301A2694C2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5533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0719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34B6771-4E1A-8E8A-57C7-9B89E2B0D453}"/>
              </a:ext>
            </a:extLst>
          </p:cNvPr>
          <p:cNvGrpSpPr/>
          <p:nvPr userDrawn="1"/>
        </p:nvGrpSpPr>
        <p:grpSpPr>
          <a:xfrm>
            <a:off x="599927" y="502602"/>
            <a:ext cx="10992146" cy="5852796"/>
            <a:chOff x="1056488" y="840235"/>
            <a:chExt cx="10079022" cy="536660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DF2B4CC-2CCE-0995-5F08-8729B2906144}"/>
                </a:ext>
              </a:extLst>
            </p:cNvPr>
            <p:cNvSpPr/>
            <p:nvPr userDrawn="1"/>
          </p:nvSpPr>
          <p:spPr>
            <a:xfrm>
              <a:off x="1281112" y="1179492"/>
              <a:ext cx="9629775" cy="4499016"/>
            </a:xfrm>
            <a:prstGeom prst="rect">
              <a:avLst/>
            </a:prstGeom>
            <a:noFill/>
            <a:ln w="31750" cap="rnd">
              <a:solidFill>
                <a:schemeClr val="accent4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B0F4778-506D-12C4-CFF1-B44705EBF1E7}"/>
                </a:ext>
              </a:extLst>
            </p:cNvPr>
            <p:cNvSpPr/>
            <p:nvPr userDrawn="1"/>
          </p:nvSpPr>
          <p:spPr>
            <a:xfrm>
              <a:off x="1108364" y="2202873"/>
              <a:ext cx="8686800" cy="40039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DA25866-82EC-15C2-5B86-D686DCF0D95E}"/>
                </a:ext>
              </a:extLst>
            </p:cNvPr>
            <p:cNvSpPr/>
            <p:nvPr userDrawn="1"/>
          </p:nvSpPr>
          <p:spPr>
            <a:xfrm>
              <a:off x="1281112" y="1551709"/>
              <a:ext cx="9303761" cy="4126799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ED4CB7E-1CB8-4177-2F4D-A8C517137EEC}"/>
                </a:ext>
              </a:extLst>
            </p:cNvPr>
            <p:cNvGrpSpPr/>
            <p:nvPr userDrawn="1"/>
          </p:nvGrpSpPr>
          <p:grpSpPr>
            <a:xfrm>
              <a:off x="1056488" y="840235"/>
              <a:ext cx="10079022" cy="5177530"/>
              <a:chOff x="1056489" y="805779"/>
              <a:chExt cx="10079022" cy="517753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6FE904B-B1F0-F9D9-0C65-49BE23F0262D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56489" y="805779"/>
                <a:ext cx="1529579" cy="1463040"/>
              </a:xfrm>
              <a:prstGeom prst="rect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24A792C-EAD1-1E17-404C-EFBEF7BFF411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9672471" y="4598834"/>
                <a:ext cx="1463040" cy="1384475"/>
              </a:xfrm>
              <a:prstGeom prst="rect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6B80C71-44A6-A20E-ADA6-E833525161AD}"/>
                </a:ext>
              </a:extLst>
            </p:cNvPr>
            <p:cNvSpPr/>
            <p:nvPr userDrawn="1"/>
          </p:nvSpPr>
          <p:spPr>
            <a:xfrm>
              <a:off x="1898073" y="1426825"/>
              <a:ext cx="8859548" cy="37132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FAE7328-7EDE-37C7-F66D-C16DB72D3781}"/>
              </a:ext>
            </a:extLst>
          </p:cNvPr>
          <p:cNvSpPr txBox="1"/>
          <p:nvPr userDrawn="1"/>
        </p:nvSpPr>
        <p:spPr>
          <a:xfrm>
            <a:off x="847923" y="-38211"/>
            <a:ext cx="117428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A022E4-7A5B-F38A-7860-1E739DC9F6F8}"/>
              </a:ext>
            </a:extLst>
          </p:cNvPr>
          <p:cNvSpPr txBox="1"/>
          <p:nvPr userDrawn="1"/>
        </p:nvSpPr>
        <p:spPr>
          <a:xfrm rot="10800000">
            <a:off x="10220850" y="2245036"/>
            <a:ext cx="128066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>
              <a:solidFill>
                <a:schemeClr val="tx1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D35EDAB-E6BE-EF48-6A71-C474D859C3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58634" y="1633596"/>
            <a:ext cx="7185513" cy="283712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Really epic quote that makes everyone think. 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E2487A3-96FC-5837-5057-788C5EA5DC72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2358635" y="4669312"/>
            <a:ext cx="7185512" cy="395869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- Quoted Source</a:t>
            </a:r>
          </a:p>
        </p:txBody>
      </p:sp>
    </p:spTree>
    <p:extLst>
      <p:ext uri="{BB962C8B-B14F-4D97-AF65-F5344CB8AC3E}">
        <p14:creationId xmlns:p14="http://schemas.microsoft.com/office/powerpoint/2010/main" val="4138459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34B6771-4E1A-8E8A-57C7-9B89E2B0D453}"/>
              </a:ext>
            </a:extLst>
          </p:cNvPr>
          <p:cNvGrpSpPr/>
          <p:nvPr userDrawn="1"/>
        </p:nvGrpSpPr>
        <p:grpSpPr>
          <a:xfrm>
            <a:off x="599927" y="502602"/>
            <a:ext cx="10992146" cy="5852796"/>
            <a:chOff x="1056488" y="840235"/>
            <a:chExt cx="10079022" cy="536660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DF2B4CC-2CCE-0995-5F08-8729B2906144}"/>
                </a:ext>
              </a:extLst>
            </p:cNvPr>
            <p:cNvSpPr/>
            <p:nvPr userDrawn="1"/>
          </p:nvSpPr>
          <p:spPr>
            <a:xfrm>
              <a:off x="1281112" y="1179492"/>
              <a:ext cx="9629775" cy="4499016"/>
            </a:xfrm>
            <a:prstGeom prst="rect">
              <a:avLst/>
            </a:prstGeom>
            <a:noFill/>
            <a:ln w="31750" cap="rnd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B0F4778-506D-12C4-CFF1-B44705EBF1E7}"/>
                </a:ext>
              </a:extLst>
            </p:cNvPr>
            <p:cNvSpPr/>
            <p:nvPr userDrawn="1"/>
          </p:nvSpPr>
          <p:spPr>
            <a:xfrm>
              <a:off x="1108364" y="2202873"/>
              <a:ext cx="8686800" cy="40039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DA25866-82EC-15C2-5B86-D686DCF0D95E}"/>
                </a:ext>
              </a:extLst>
            </p:cNvPr>
            <p:cNvSpPr/>
            <p:nvPr userDrawn="1"/>
          </p:nvSpPr>
          <p:spPr>
            <a:xfrm>
              <a:off x="1281112" y="1551709"/>
              <a:ext cx="9303761" cy="4126799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ED4CB7E-1CB8-4177-2F4D-A8C517137EEC}"/>
                </a:ext>
              </a:extLst>
            </p:cNvPr>
            <p:cNvGrpSpPr/>
            <p:nvPr userDrawn="1"/>
          </p:nvGrpSpPr>
          <p:grpSpPr>
            <a:xfrm>
              <a:off x="1056488" y="840235"/>
              <a:ext cx="10079022" cy="5177530"/>
              <a:chOff x="1056489" y="805779"/>
              <a:chExt cx="10079022" cy="517753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6FE904B-B1F0-F9D9-0C65-49BE23F0262D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56489" y="805779"/>
                <a:ext cx="1529579" cy="146304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24A792C-EAD1-1E17-404C-EFBEF7BFF411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9672471" y="4601177"/>
                <a:ext cx="1463040" cy="138213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6B80C71-44A6-A20E-ADA6-E833525161AD}"/>
                </a:ext>
              </a:extLst>
            </p:cNvPr>
            <p:cNvSpPr/>
            <p:nvPr userDrawn="1"/>
          </p:nvSpPr>
          <p:spPr>
            <a:xfrm>
              <a:off x="1898073" y="1426825"/>
              <a:ext cx="8859548" cy="37132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FAE7328-7EDE-37C7-F66D-C16DB72D3781}"/>
              </a:ext>
            </a:extLst>
          </p:cNvPr>
          <p:cNvSpPr txBox="1"/>
          <p:nvPr userDrawn="1"/>
        </p:nvSpPr>
        <p:spPr>
          <a:xfrm>
            <a:off x="847923" y="-38211"/>
            <a:ext cx="117428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A022E4-7A5B-F38A-7860-1E739DC9F6F8}"/>
              </a:ext>
            </a:extLst>
          </p:cNvPr>
          <p:cNvSpPr txBox="1"/>
          <p:nvPr userDrawn="1"/>
        </p:nvSpPr>
        <p:spPr>
          <a:xfrm rot="10800000">
            <a:off x="10220850" y="2245036"/>
            <a:ext cx="128066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D35EDAB-E6BE-EF48-6A71-C474D859C3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58634" y="1633596"/>
            <a:ext cx="7185513" cy="283712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Really epic quote that makes everyone think. 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E2487A3-96FC-5837-5057-788C5EA5DC72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2358635" y="4669312"/>
            <a:ext cx="7185512" cy="395869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- Quoted Source</a:t>
            </a:r>
          </a:p>
        </p:txBody>
      </p:sp>
    </p:spTree>
    <p:extLst>
      <p:ext uri="{BB962C8B-B14F-4D97-AF65-F5344CB8AC3E}">
        <p14:creationId xmlns:p14="http://schemas.microsoft.com/office/powerpoint/2010/main" val="20353354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34B6771-4E1A-8E8A-57C7-9B89E2B0D453}"/>
              </a:ext>
            </a:extLst>
          </p:cNvPr>
          <p:cNvGrpSpPr/>
          <p:nvPr userDrawn="1"/>
        </p:nvGrpSpPr>
        <p:grpSpPr>
          <a:xfrm>
            <a:off x="599927" y="502602"/>
            <a:ext cx="10992146" cy="5852796"/>
            <a:chOff x="1056488" y="840235"/>
            <a:chExt cx="10079022" cy="536660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DF2B4CC-2CCE-0995-5F08-8729B2906144}"/>
                </a:ext>
              </a:extLst>
            </p:cNvPr>
            <p:cNvSpPr/>
            <p:nvPr userDrawn="1"/>
          </p:nvSpPr>
          <p:spPr>
            <a:xfrm>
              <a:off x="1281112" y="1179492"/>
              <a:ext cx="9629775" cy="4499016"/>
            </a:xfrm>
            <a:prstGeom prst="rect">
              <a:avLst/>
            </a:prstGeom>
            <a:noFill/>
            <a:ln w="31750" cap="rnd">
              <a:solidFill>
                <a:schemeClr val="accent4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B0F4778-506D-12C4-CFF1-B44705EBF1E7}"/>
                </a:ext>
              </a:extLst>
            </p:cNvPr>
            <p:cNvSpPr/>
            <p:nvPr userDrawn="1"/>
          </p:nvSpPr>
          <p:spPr>
            <a:xfrm>
              <a:off x="1108364" y="2202873"/>
              <a:ext cx="8686800" cy="400396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DA25866-82EC-15C2-5B86-D686DCF0D95E}"/>
                </a:ext>
              </a:extLst>
            </p:cNvPr>
            <p:cNvSpPr/>
            <p:nvPr userDrawn="1"/>
          </p:nvSpPr>
          <p:spPr>
            <a:xfrm>
              <a:off x="1281112" y="1551709"/>
              <a:ext cx="9303761" cy="4126799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ED4CB7E-1CB8-4177-2F4D-A8C517137EEC}"/>
                </a:ext>
              </a:extLst>
            </p:cNvPr>
            <p:cNvGrpSpPr/>
            <p:nvPr userDrawn="1"/>
          </p:nvGrpSpPr>
          <p:grpSpPr>
            <a:xfrm>
              <a:off x="1056488" y="840235"/>
              <a:ext cx="10079022" cy="5177530"/>
              <a:chOff x="1056489" y="805779"/>
              <a:chExt cx="10079022" cy="517753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6FE904B-B1F0-F9D9-0C65-49BE23F0262D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56489" y="805779"/>
                <a:ext cx="1529579" cy="1463040"/>
              </a:xfrm>
              <a:prstGeom prst="rect">
                <a:avLst/>
              </a:prstGeom>
              <a:solidFill>
                <a:schemeClr val="accent3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24A792C-EAD1-1E17-404C-EFBEF7BFF411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9672471" y="4598834"/>
                <a:ext cx="1463040" cy="1384475"/>
              </a:xfrm>
              <a:prstGeom prst="rect">
                <a:avLst/>
              </a:prstGeom>
              <a:solidFill>
                <a:schemeClr val="accent3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6B80C71-44A6-A20E-ADA6-E833525161AD}"/>
                </a:ext>
              </a:extLst>
            </p:cNvPr>
            <p:cNvSpPr/>
            <p:nvPr userDrawn="1"/>
          </p:nvSpPr>
          <p:spPr>
            <a:xfrm>
              <a:off x="1898073" y="1426825"/>
              <a:ext cx="8859548" cy="371321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FAE7328-7EDE-37C7-F66D-C16DB72D3781}"/>
              </a:ext>
            </a:extLst>
          </p:cNvPr>
          <p:cNvSpPr txBox="1"/>
          <p:nvPr userDrawn="1"/>
        </p:nvSpPr>
        <p:spPr>
          <a:xfrm>
            <a:off x="847923" y="-38211"/>
            <a:ext cx="117428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A022E4-7A5B-F38A-7860-1E739DC9F6F8}"/>
              </a:ext>
            </a:extLst>
          </p:cNvPr>
          <p:cNvSpPr txBox="1"/>
          <p:nvPr userDrawn="1"/>
        </p:nvSpPr>
        <p:spPr>
          <a:xfrm rot="10800000">
            <a:off x="10220850" y="2245036"/>
            <a:ext cx="128066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>
              <a:solidFill>
                <a:schemeClr val="tx1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D35EDAB-E6BE-EF48-6A71-C474D859C3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58634" y="1633596"/>
            <a:ext cx="7185513" cy="283712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Really epic quote that makes everyone think. 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E2487A3-96FC-5837-5057-788C5EA5DC72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2358635" y="4669312"/>
            <a:ext cx="7185512" cy="395869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- Quoted Source</a:t>
            </a:r>
          </a:p>
        </p:txBody>
      </p:sp>
    </p:spTree>
    <p:extLst>
      <p:ext uri="{BB962C8B-B14F-4D97-AF65-F5344CB8AC3E}">
        <p14:creationId xmlns:p14="http://schemas.microsoft.com/office/powerpoint/2010/main" val="28992575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48D21876-BA52-68C5-B349-CF8087B112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93EFA5F-3C5D-E81F-71B1-ECAE22A10C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6573" y="5641905"/>
            <a:ext cx="5714252" cy="395869"/>
          </a:xfrm>
        </p:spPr>
        <p:txBody>
          <a:bodyPr>
            <a:no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 err="1"/>
              <a:t>emailaddress@qlik.com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55610A0-F551-19F2-EECF-A7E853EED7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97989" y="1101188"/>
            <a:ext cx="3328576" cy="1849208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12448B-DA87-1FE1-7CBF-F9F79437F7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6186" y="5004559"/>
            <a:ext cx="5714639" cy="46155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Call to Action</a:t>
            </a:r>
          </a:p>
        </p:txBody>
      </p:sp>
    </p:spTree>
    <p:extLst>
      <p:ext uri="{BB962C8B-B14F-4D97-AF65-F5344CB8AC3E}">
        <p14:creationId xmlns:p14="http://schemas.microsoft.com/office/powerpoint/2010/main" val="3295994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4106C380-C29E-7390-E154-057377E5D8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3149500-7912-3E96-5FB3-CBDE4B5931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97990" y="1101186"/>
            <a:ext cx="3328576" cy="1849208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67FA24A-C52F-B256-7134-1984E46267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6573" y="5641905"/>
            <a:ext cx="5714252" cy="395869"/>
          </a:xfrm>
        </p:spPr>
        <p:txBody>
          <a:bodyPr>
            <a:no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 err="1"/>
              <a:t>emailaddress@qlik.com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7CD7BB3-59A8-A18C-D485-85765FFC2A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6186" y="5004559"/>
            <a:ext cx="5714639" cy="46155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Call to Action</a:t>
            </a:r>
          </a:p>
        </p:txBody>
      </p:sp>
    </p:spTree>
    <p:extLst>
      <p:ext uri="{BB962C8B-B14F-4D97-AF65-F5344CB8AC3E}">
        <p14:creationId xmlns:p14="http://schemas.microsoft.com/office/powerpoint/2010/main" val="1159057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- Appendi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8A559919-4E94-0D09-D59B-D78DB4C2CA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1664288" y="0"/>
            <a:ext cx="10527712" cy="6858000"/>
          </a:xfrm>
          <a:prstGeom prst="rect">
            <a:avLst/>
          </a:prstGeom>
        </p:spPr>
      </p:pic>
      <p:pic>
        <p:nvPicPr>
          <p:cNvPr id="7" name="Picture 6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08C28AA4-24E2-AEB6-7F25-DB964665F4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1188631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3149500-7912-3E96-5FB3-CBDE4B5931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431712" y="1579791"/>
            <a:ext cx="3328576" cy="1849208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9FD58846-2F05-9B9A-3023-E997230525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73287" y="4176711"/>
            <a:ext cx="5645426" cy="1101498"/>
          </a:xfrm>
        </p:spPr>
        <p:txBody>
          <a:bodyPr anchor="t">
            <a:noAutofit/>
          </a:bodyPr>
          <a:lstStyle>
            <a:lvl1pPr marL="0" indent="0" algn="ctr">
              <a:buNone/>
              <a:defRPr sz="3200" b="1" i="0">
                <a:solidFill>
                  <a:schemeClr val="accent4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792288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B2775-04B1-042D-9E53-D0E611B5F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7539" y="1847574"/>
            <a:ext cx="10776922" cy="4108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4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5C6EB-E1EF-941D-4DCC-85515B9FC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8226" y="61899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E8039E6F-BAB9-860A-05B9-20EE9032C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39" y="365125"/>
            <a:ext cx="107769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2269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41" r:id="rId2"/>
    <p:sldLayoutId id="2147483729" r:id="rId3"/>
    <p:sldLayoutId id="2147483747" r:id="rId4"/>
    <p:sldLayoutId id="2147483728" r:id="rId5"/>
    <p:sldLayoutId id="2147483727" r:id="rId6"/>
    <p:sldLayoutId id="2147483720" r:id="rId7"/>
    <p:sldLayoutId id="2147483724" r:id="rId8"/>
    <p:sldLayoutId id="2147483702" r:id="rId9"/>
    <p:sldLayoutId id="2147483746" r:id="rId10"/>
    <p:sldLayoutId id="2147483726" r:id="rId11"/>
    <p:sldLayoutId id="2147483732" r:id="rId12"/>
    <p:sldLayoutId id="2147483668" r:id="rId13"/>
    <p:sldLayoutId id="2147483750" r:id="rId14"/>
    <p:sldLayoutId id="2147483669" r:id="rId15"/>
    <p:sldLayoutId id="2147483670" r:id="rId16"/>
    <p:sldLayoutId id="2147483733" r:id="rId17"/>
    <p:sldLayoutId id="2147483752" r:id="rId18"/>
    <p:sldLayoutId id="2147483751" r:id="rId19"/>
    <p:sldLayoutId id="2147483748" r:id="rId20"/>
    <p:sldLayoutId id="2147483743" r:id="rId21"/>
    <p:sldLayoutId id="2147483742" r:id="rId22"/>
    <p:sldLayoutId id="2147483705" r:id="rId23"/>
    <p:sldLayoutId id="2147483735" r:id="rId24"/>
    <p:sldLayoutId id="2147483683" r:id="rId25"/>
    <p:sldLayoutId id="2147483738" r:id="rId26"/>
    <p:sldLayoutId id="2147483715" r:id="rId27"/>
    <p:sldLayoutId id="2147483749" r:id="rId28"/>
    <p:sldLayoutId id="2147483660" r:id="rId29"/>
    <p:sldLayoutId id="2147483682" r:id="rId30"/>
    <p:sldLayoutId id="2147483676" r:id="rId31"/>
    <p:sldLayoutId id="2147483691" r:id="rId32"/>
    <p:sldLayoutId id="2147483675" r:id="rId33"/>
    <p:sldLayoutId id="2147483745" r:id="rId34"/>
    <p:sldLayoutId id="2147483689" r:id="rId35"/>
    <p:sldLayoutId id="2147483690" r:id="rId36"/>
    <p:sldLayoutId id="2147483754" r:id="rId3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Inter SemiBold" panose="02000503000000020004" pitchFamily="2" charset="0"/>
          <a:ea typeface="Inter SemiBold" panose="02000503000000020004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SaaS to Talend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Job Generator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Convert any SaaS API, database, or dbt project into Talend Studio jobs.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does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r>
              <a:t>One tool. Three sources. One Talend workspace ZIP.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657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73152" cy="2011680"/>
          </a:xfrm>
          <a:prstGeom prst="rect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9416C"/>
                </a:solidFill>
                <a:latin typeface="Inter"/>
              </a:rPr>
              <a:t>API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45659"/>
                </a:solidFill>
                <a:latin typeface="Inter"/>
              </a:rPr>
              <a:t>OpenAPI / Swagger / freeform docs.
One HTTPClient (TaCoKit) job per GET endpoint.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920240"/>
            <a:ext cx="3657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920240"/>
            <a:ext cx="73152" cy="2011680"/>
          </a:xfrm>
          <a:prstGeom prst="rect">
            <a:avLst/>
          </a:prstGeom>
          <a:solidFill>
            <a:srgbClr val="00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1945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9416C"/>
                </a:solidFill>
                <a:latin typeface="Inter"/>
              </a:rPr>
              <a:t>Database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78892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45659"/>
                </a:solidFill>
                <a:latin typeface="Inter"/>
              </a:rPr>
              <a:t>PostgreSQL, MySQL, Snowflake, BigQuery,
Redshift, MSSQL, Oracle, SQLite.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920240"/>
            <a:ext cx="3657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920240"/>
            <a:ext cx="73152" cy="2011680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1945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9416C"/>
                </a:solidFill>
                <a:latin typeface="Inter"/>
              </a:rPr>
              <a:t>dbt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78892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45659"/>
                </a:solidFill>
                <a:latin typeface="Inter"/>
              </a:rPr>
              <a:t>ZIP / GitHub URL / pasted SQL.
One tDBRow job per model executes
the compiled SQL.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60520"/>
            <a:ext cx="11091672" cy="1828800"/>
          </a:xfrm>
          <a:prstGeom prst="rect">
            <a:avLst/>
          </a:prstGeom>
          <a:solidFill>
            <a:srgbClr val="F6F7F8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97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9416C"/>
                </a:solidFill>
                <a:latin typeface="Inter"/>
              </a:rPr>
              <a:t>Output: a Talend Studio 8.0.1-compatible workspace ZIP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talend.project + process/*.item + .properties + required empty dirs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Every credential / tenant URL emitted as context.* variable — no hardcoded secrets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22 standard context variables across API, OAuth2, database, Qlik Cloud, output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Importable directly via File → Import items in Talend Open Studio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657600" cy="457200"/>
          </a:xfrm>
          <a:prstGeom prst="rect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React + Vite (UI)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Wizards: API / Database / dbt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414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ReactFlow visual job canvas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340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Settings · Help · Jobs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666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Tailwind + framer-motion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192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Served by Express in prod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554480"/>
            <a:ext cx="3657600" cy="457200"/>
          </a:xfrm>
          <a:prstGeom prst="rect">
            <a:avLst/>
          </a:prstGeom>
          <a:solidFill>
            <a:srgbClr val="00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645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Express + SQLite (port 3000)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48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AI proxy (Ollama/OpenAI/Anthropic)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4414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dbt parser (ZIP/GitHub/SQL)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7340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Project + job 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02666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Export bridge → Java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3192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Multer · adm-zip · sql.js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55448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554480"/>
            <a:ext cx="3657600" cy="457200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645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Java Spring Boot (port 8081)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148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OpenAPI / Swagger parser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4414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JDBC schema scanner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7340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Talend XMI XML generator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02666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Workspace ZIP exporter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3192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Inter"/>
              </a:rPr>
              <a:t>swagger-parser · dom4j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45659"/>
                </a:solidFill>
                <a:latin typeface="Inter"/>
              </a:rPr>
              <a:t>Request flow:  React → Express (port 3000) → Java engine (port 8081) → Talend XML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26280"/>
            <a:ext cx="11247120" cy="1783080"/>
          </a:xfrm>
          <a:prstGeom prst="rect">
            <a:avLst/>
          </a:prstGeom>
          <a:solidFill>
            <a:srgbClr val="F6F7F8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663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9416C"/>
                </a:solidFill>
                <a:latin typeface="Inter"/>
              </a:rPr>
              <a:t>Single Docker image — multi-stage 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0292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Stage 1: Maven 3.9 + Eclipse Temurin 17 → engine.jar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Stage 2: Node 20 Alpine → React production bundle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Stage 3: Server deps (sql.js, adm-zip, axios, multer, …)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Final: Eclipse Temurin JRE 17 + Node 20 + tini supervisor — port 3000 exposed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three wizards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r>
              <a:t>Same UX pattern across all source types: pick → configure → generate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74519"/>
            <a:ext cx="384048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59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9845"/>
                </a:solidFill>
                <a:latin typeface="Inter"/>
              </a:rPr>
              <a:t>API → REST jobs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423159"/>
            <a:ext cx="320040" cy="320040"/>
          </a:xfrm>
          <a:prstGeom prst="ellipse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59735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5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416C"/>
                </a:solidFill>
                <a:latin typeface="Inter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79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URL, paste OpenAPI/Swagger, or pick from
28 quick-start templates.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64407"/>
            <a:ext cx="320040" cy="320040"/>
          </a:xfrm>
          <a:prstGeom prst="ellipse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00983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64407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416C"/>
                </a:solidFill>
                <a:latin typeface="Inter"/>
              </a:rPr>
              <a:t>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38727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Engine auto-detects pagination, auth,
records_path, primary keys.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105655"/>
            <a:ext cx="320040" cy="320040"/>
          </a:xfrm>
          <a:prstGeom prst="ellipse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42231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05655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416C"/>
                </a:solidFill>
                <a:latin typeface="Inter"/>
              </a:rPr>
              <a:t>Generate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379975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HTTPClient → tExtractJSONFields →
tLogRow + tFileOutputJSON per endpoint.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874519"/>
            <a:ext cx="384048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65959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6580"/>
                </a:solidFill>
                <a:latin typeface="Inter"/>
              </a:rPr>
              <a:t>Database → ETL jobs</a:t>
            </a:r>
          </a:p>
        </p:txBody>
      </p:sp>
      <p:sp>
        <p:nvSpPr>
          <p:cNvPr id="21" name="Oval 20"/>
          <p:cNvSpPr/>
          <p:nvPr/>
        </p:nvSpPr>
        <p:spPr>
          <a:xfrm>
            <a:off x="4480560" y="2423159"/>
            <a:ext cx="320040" cy="320040"/>
          </a:xfrm>
          <a:prstGeom prst="ellipse">
            <a:avLst/>
          </a:prstGeom>
          <a:solidFill>
            <a:srgbClr val="00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459735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42315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416C"/>
                </a:solidFill>
                <a:latin typeface="Inter"/>
              </a:rPr>
              <a:t>Connection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697479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8 dialects, dialect-specific fields
(Snowflake warehouse, BigQuery project).</a:t>
            </a:r>
          </a:p>
        </p:txBody>
      </p:sp>
      <p:sp>
        <p:nvSpPr>
          <p:cNvPr id="25" name="Oval 24"/>
          <p:cNvSpPr/>
          <p:nvPr/>
        </p:nvSpPr>
        <p:spPr>
          <a:xfrm>
            <a:off x="4480560" y="3264407"/>
            <a:ext cx="320040" cy="320040"/>
          </a:xfrm>
          <a:prstGeom prst="ellipse">
            <a:avLst/>
          </a:prstGeom>
          <a:solidFill>
            <a:srgbClr val="00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300983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264407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416C"/>
                </a:solidFill>
                <a:latin typeface="Inter"/>
              </a:rPr>
              <a:t>Schema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3538727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JDBC DatabaseMetaData scan →
tables + columns + PKs.</a:t>
            </a:r>
          </a:p>
        </p:txBody>
      </p:sp>
      <p:sp>
        <p:nvSpPr>
          <p:cNvPr id="29" name="Oval 28"/>
          <p:cNvSpPr/>
          <p:nvPr/>
        </p:nvSpPr>
        <p:spPr>
          <a:xfrm>
            <a:off x="4480560" y="4105655"/>
            <a:ext cx="320040" cy="320040"/>
          </a:xfrm>
          <a:prstGeom prst="ellipse">
            <a:avLst/>
          </a:prstGeom>
          <a:solidFill>
            <a:srgbClr val="00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142231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4105655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416C"/>
                </a:solidFill>
                <a:latin typeface="Inter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4379975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Database / JSON file / Log row
(per-table component picked by dialect).</a:t>
            </a:r>
          </a:p>
        </p:txBody>
      </p:sp>
      <p:sp>
        <p:nvSpPr>
          <p:cNvPr id="33" name="Oval 32"/>
          <p:cNvSpPr/>
          <p:nvPr/>
        </p:nvSpPr>
        <p:spPr>
          <a:xfrm>
            <a:off x="4480560" y="4946903"/>
            <a:ext cx="320040" cy="320040"/>
          </a:xfrm>
          <a:prstGeom prst="ellipse">
            <a:avLst/>
          </a:prstGeom>
          <a:solidFill>
            <a:srgbClr val="00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4983479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4946903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416C"/>
                </a:solidFill>
                <a:latin typeface="Inter"/>
              </a:rPr>
              <a:t>Generate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5221223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tXxxInput → tXxxOutput / tFileOutputJSON / tLogRow.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874519"/>
            <a:ext cx="365760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196595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9416C"/>
                </a:solidFill>
                <a:latin typeface="Inter"/>
              </a:rPr>
              <a:t>dbt → Talend jobs</a:t>
            </a:r>
          </a:p>
        </p:txBody>
      </p:sp>
      <p:sp>
        <p:nvSpPr>
          <p:cNvPr id="39" name="Oval 38"/>
          <p:cNvSpPr/>
          <p:nvPr/>
        </p:nvSpPr>
        <p:spPr>
          <a:xfrm>
            <a:off x="8412480" y="2423159"/>
            <a:ext cx="320040" cy="320040"/>
          </a:xfrm>
          <a:prstGeom prst="ellipse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2459735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2423159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416C"/>
                </a:solidFill>
                <a:latin typeface="Inter"/>
              </a:rPr>
              <a:t>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2697479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GitHub URL, ZIP upload, or paste SQL
including dbt_project.yml.</a:t>
            </a:r>
          </a:p>
        </p:txBody>
      </p:sp>
      <p:sp>
        <p:nvSpPr>
          <p:cNvPr id="43" name="Oval 42"/>
          <p:cNvSpPr/>
          <p:nvPr/>
        </p:nvSpPr>
        <p:spPr>
          <a:xfrm>
            <a:off x="8412480" y="3264407"/>
            <a:ext cx="320040" cy="320040"/>
          </a:xfrm>
          <a:prstGeom prst="ellipse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3300983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3264407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416C"/>
                </a:solidFill>
                <a:latin typeface="Inter"/>
              </a:rPr>
              <a:t>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3538727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Parse refs(), source(), config(),
show layer badges + SQL preview.</a:t>
            </a:r>
          </a:p>
        </p:txBody>
      </p:sp>
      <p:sp>
        <p:nvSpPr>
          <p:cNvPr id="47" name="Oval 46"/>
          <p:cNvSpPr/>
          <p:nvPr/>
        </p:nvSpPr>
        <p:spPr>
          <a:xfrm>
            <a:off x="8412480" y="4105655"/>
            <a:ext cx="320040" cy="320040"/>
          </a:xfrm>
          <a:prstGeom prst="ellipse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0" y="4142231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0" y="4105655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416C"/>
                </a:solidFill>
                <a:latin typeface="Inter"/>
              </a:rPr>
              <a:t>Target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4379975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Pick warehouse where SQL will run
(prefilled from profiles.yml).</a:t>
            </a:r>
          </a:p>
        </p:txBody>
      </p:sp>
      <p:sp>
        <p:nvSpPr>
          <p:cNvPr id="51" name="Oval 50"/>
          <p:cNvSpPr/>
          <p:nvPr/>
        </p:nvSpPr>
        <p:spPr>
          <a:xfrm>
            <a:off x="8412480" y="4946903"/>
            <a:ext cx="320040" cy="320040"/>
          </a:xfrm>
          <a:prstGeom prst="ellipse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0" y="4983479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4946903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9416C"/>
                </a:solidFill>
                <a:latin typeface="Inter"/>
              </a:rPr>
              <a:t>Generate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5221223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tXxxRow per model — runs the literal
compiled SQL against the warehouse.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 on Talend's HTTPClient (TaCoKit)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r>
              <a:t>Schema decompiled from http-common-1.2603.1.jar — full canonical auth + pagination, not the deprecated tRESTClient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54864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73152" cy="4572000"/>
          </a:xfrm>
          <a:prstGeom prst="rect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7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9416C"/>
                </a:solidFill>
                <a:latin typeface="Inter"/>
              </a:rPr>
              <a:t>Generated pipeline per endpoint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51759"/>
            <a:ext cx="2286000" cy="548640"/>
          </a:xfrm>
          <a:prstGeom prst="rect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79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HTTPClient_1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79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Inter"/>
              </a:rPr>
              <a:t>HTTPClient v5 (TaCoKit)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834639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45659"/>
                </a:solidFill>
                <a:latin typeface="Inter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651759"/>
            <a:ext cx="2286000" cy="548640"/>
          </a:xfrm>
          <a:prstGeom prst="rect">
            <a:avLst/>
          </a:prstGeom>
          <a:solidFill>
            <a:srgbClr val="00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697479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tExtractJSONFields_1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926079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Inter"/>
              </a:rPr>
              <a:t>v0.102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383279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45659"/>
                </a:solidFill>
                <a:latin typeface="Inter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3657599"/>
            <a:ext cx="2286000" cy="548640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3703319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tLogRow_1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931919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Inter"/>
              </a:rPr>
              <a:t>console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343399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45659"/>
                </a:solidFill>
                <a:latin typeface="Inter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4617719"/>
            <a:ext cx="2286000" cy="548640"/>
          </a:xfrm>
          <a:prstGeom prst="rect">
            <a:avLst/>
          </a:prstGeom>
          <a:solidFill>
            <a:srgbClr val="10C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4663439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tFileOutputJSON_1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892039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Inter"/>
              </a:rPr>
              <a:t>JSON 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0643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45659"/>
                </a:solidFill>
                <a:latin typeface="Inter"/>
              </a:rPr>
              <a:t>All connectors are FLOW (HTTPClient emits row1 → row2 → row3).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874519"/>
            <a:ext cx="54864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874519"/>
            <a:ext cx="73152" cy="4572000"/>
          </a:xfrm>
          <a:prstGeom prst="rect">
            <a:avLst/>
          </a:prstGeom>
          <a:solidFill>
            <a:srgbClr val="00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01167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9416C"/>
                </a:solidFill>
                <a:latin typeface="Inter"/>
              </a:rPr>
              <a:t>TaCoKit parameter set (highlights)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514599"/>
            <a:ext cx="502920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componentName="HTTPClient" componentVersion="5"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TACOKIT_COMPONENT_ID = base64("http-studio#HTTP#Client")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configuration.dataset.datastore.base = context.API_BASE_URL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authentication.type ∈ {NoAuth, Bearer, Basic, APIKey, OAuth20}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   ↳ Bearer.bearerToken / APIKey.{destination,headerName,token}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   ↳ OAuth20.{flow,tokenEndpoint,clientId,clientSecret,…}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pagination.strategy ∈ {OFFSET_LIMIT, MARKER, NEXT_LINK}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   ↳ page/cursor → MARKER · offset → OFFSET_LIMIT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   ↳ link-header / odata / jsonpath → NEXT_LINK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configuration.dataset.{methodType, resource, format, returnedContent}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configuration.{httpVersion=HTTP_1_1, dieOnError=true}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Output column: body (id_String) — fed into tExtractJSONFields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50-SaaS smoke test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r>
              <a:t>End-to-end discovery + generate against real public OpenAPI specs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2651760" cy="73152"/>
          </a:xfrm>
          <a:prstGeom prst="rect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45659"/>
                </a:solidFill>
                <a:latin typeface="Inter"/>
              </a:rPr>
              <a:t>Specs fetched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9416C"/>
                </a:solidFill>
                <a:latin typeface="Inter"/>
              </a:rPr>
              <a:t>43/50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from APIs.guru + Petstore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78308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783080"/>
            <a:ext cx="2651760" cy="73152"/>
          </a:xfrm>
          <a:prstGeom prst="rect">
            <a:avLst/>
          </a:prstGeom>
          <a:solidFill>
            <a:srgbClr val="00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057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45659"/>
                </a:solidFill>
                <a:latin typeface="Inter"/>
              </a:rPr>
              <a:t>Discoveries 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3317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9416C"/>
                </a:solidFill>
                <a:latin typeface="Inter"/>
              </a:rPr>
              <a:t>39/50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8803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78% success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78308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783080"/>
            <a:ext cx="2651760" cy="73152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057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45659"/>
                </a:solidFill>
                <a:latin typeface="Inter"/>
              </a:rPr>
              <a:t>Endpoints found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3317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9416C"/>
                </a:solidFill>
                <a:latin typeface="Inter"/>
              </a:rPr>
              <a:t>918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8803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across all GET list endpoints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0" y="178308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1783080"/>
            <a:ext cx="2651760" cy="73152"/>
          </a:xfrm>
          <a:prstGeom prst="rect">
            <a:avLst/>
          </a:prstGeom>
          <a:solidFill>
            <a:srgbClr val="10C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2057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45659"/>
                </a:solidFill>
                <a:latin typeface="Inter"/>
              </a:rPr>
              <a:t>Talend jobs 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3317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9416C"/>
                </a:solidFill>
                <a:latin typeface="Inter"/>
              </a:rPr>
              <a:t>407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8803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45659"/>
                </a:solidFill>
                <a:latin typeface="Inter"/>
              </a:rPr>
              <a:t>capped at 30 per 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20440"/>
            <a:ext cx="112471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520440"/>
            <a:ext cx="91440" cy="2926080"/>
          </a:xfrm>
          <a:prstGeom prst="rect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657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9416C"/>
                </a:solidFill>
                <a:latin typeface="Inter"/>
              </a:rPr>
              <a:t>Findings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11480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Inter"/>
              </a:rPr>
              <a:t>•  All 4 pagination styles encountered: cursor, offset, page, none — handled deterministically by Java engine.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Inter"/>
              </a:rPr>
              <a:t>•  4 distinct auth methods detected automatically: OAUTH2, API_KEY, BEARER_TOKEN, NO_AUTH (zero false positives).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Inter"/>
              </a:rPr>
              <a:t>•  Discoveries returning 0 endpoints (e.g. webhooks-only specs) are correct — engine intentionally skips POST/PUT/DELETE.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Inter"/>
              </a:rPr>
              <a:t>•  Largest spec processed: Adyen Management at 914 KB → 41 endpoints in 3.8 s.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Inter"/>
              </a:rPr>
              <a:t>•  Average end-to-end latency under 1.2 s per spec (network + parse + generate).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Inter"/>
              </a:rPr>
              <a:t>•  No LLM invocations — every successful spec was handled by the deterministic Java parser.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 &amp; pagination distribution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463040"/>
          <a:ext cx="54864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463040"/>
          <a:ext cx="5486400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Per-API results — APIs 1–25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36576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143560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301752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3560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417320"/>
            <a:ext cx="64008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04488" y="143560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KB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54864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3560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417320"/>
            <a:ext cx="64008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3208" y="143560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Jobs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1417320"/>
            <a:ext cx="118872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33288" y="1435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Auth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1417320"/>
            <a:ext cx="210312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22008" y="143560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Pagination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417320"/>
            <a:ext cx="265176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128" y="143560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Status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618488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163677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163677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Petstore (OpenAPI 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4488" y="16367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163677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3208" y="16367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3288" y="163677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OAUTH2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163677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5128" y="1636776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1819656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" y="183794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183794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Checkout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04488" y="183794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760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4568" y="183794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93208" y="183794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33288" y="18379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2008" y="183794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8" y="183794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020824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" y="203911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" y="203911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Payments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04488" y="203911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44568" y="203911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93208" y="203911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33288" y="203911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22008" y="203911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25128" y="203911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221992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1208" y="224028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" y="224028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Payouts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04488" y="22402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44568" y="224028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93208" y="22402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33288" y="224028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22008" y="224028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25128" y="224028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2423160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1208" y="244144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" y="244144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Recurring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04488" y="24414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52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44568" y="24414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93208" y="24414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33288" y="244144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22008" y="244144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25128" y="244144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2624328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1208" y="264261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6968" y="26426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Management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04488" y="264261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914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44568" y="264261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93208" y="264261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33288" y="264261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22008" y="264261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none,offset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25128" y="2642616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2825496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21208" y="284378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6968" y="284378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BinLookup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04488" y="284378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44568" y="284378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93208" y="284378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33288" y="284378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22008" y="284378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25128" y="284378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3026664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1208" y="304495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6968" y="3044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Asana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04488" y="304495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591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44568" y="3044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53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93208" y="304495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733288" y="3044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OAUTH2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22008" y="304495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none,offset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25128" y="304495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3227832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21208" y="32461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" y="32461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Box Platform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04488" y="324612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1418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44568" y="32461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75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093208" y="324612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733288" y="324612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OAUTH2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22008" y="324612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none,offset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025128" y="324612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" y="3429000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21208" y="344728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86968" y="344728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DigitalOcean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04488" y="344728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1864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44568" y="34472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103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93208" y="344728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733288" y="344728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BEARER_TKN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922008" y="344728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cursor,none,offset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25128" y="344728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3630168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21208" y="364845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86968" y="364845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DocuSign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904488" y="364845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3603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44568" y="364845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093208" y="364845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33288" y="364845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22008" y="364845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25128" y="3648456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3333"/>
                </a:solidFill>
                <a:latin typeface="Inter"/>
              </a:rPr>
              <a:t>✗ discover 500: {'timestamp': '2026-04-3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3831336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21208" y="384962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86968" y="384962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Flickr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904488" y="384962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79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544568" y="384962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093208" y="384962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733288" y="384962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922008" y="384962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none,page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25128" y="384962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57200" y="4032504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21208" y="405079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86968" y="405079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Postman API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904488" y="405079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280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544568" y="405079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093208" y="405079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733288" y="40507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22008" y="405079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25128" y="405079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4233672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21208" y="42519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86968" y="425196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GitLab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904488" y="425196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542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544568" y="42519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093208" y="425196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733288" y="42519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922008" y="425196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025128" y="425196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3333"/>
                </a:solidFill>
                <a:latin typeface="Inter"/>
              </a:rPr>
              <a:t>✗ discover 400: {'error': 'Failed to par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57200" y="4434840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21208" y="445312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86968" y="445312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Instagram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904488" y="44531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55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544568" y="44531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093208" y="44531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733288" y="445312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922008" y="445312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025128" y="445312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3333"/>
                </a:solidFill>
                <a:latin typeface="Inter"/>
              </a:rPr>
              <a:t>✗ discover 400: {'error': 'Failed to par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7200" y="4636008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21208" y="465429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16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86968" y="465429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Linode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904488" y="46542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1150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544568" y="465429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96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093208" y="46542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733288" y="4654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OAUTH2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922008" y="465429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none,page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025128" y="4654296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57200" y="4837176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21208" y="485546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17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86968" y="485546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Medium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904488" y="48554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57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544568" y="485546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093208" y="48554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22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733288" y="48554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922008" y="485546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025128" y="485546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57200" y="5038344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21208" y="505663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18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86968" y="505663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Cisco Meraki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904488" y="50566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847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544568" y="505663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125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093208" y="50566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733288" y="505663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922008" y="505663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025128" y="505663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457200" y="5239512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21208" y="525780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19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86968" y="525780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Netlify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904488" y="525780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129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544568" y="525780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093208" y="525780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733288" y="52578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922008" y="525780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9025128" y="525780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3333"/>
                </a:solidFill>
                <a:latin typeface="Inter"/>
              </a:rPr>
              <a:t>✗ discover 400: {'error': 'Failed to par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57200" y="5440680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521208" y="54589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20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886968" y="545896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Notion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904488" y="545896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477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544568" y="545896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5093208" y="545896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733288" y="5458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922008" y="54589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9025128" y="54589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457200" y="5641848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21208" y="566013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86968" y="566013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Okta Users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904488" y="566013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18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4544568" y="566013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5093208" y="566013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5733288" y="566013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922008" y="566013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9025128" y="5660136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457200" y="5843016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521208" y="586130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22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886968" y="586130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GoDaddy Domains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904488" y="586130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402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544568" y="58613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9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5093208" y="586130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9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5733288" y="58613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6922008" y="586130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9025128" y="586130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457200" y="6044184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521208" y="606247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23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886968" y="606247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GoDaddy Orders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3904488" y="606247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42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4544568" y="60624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5093208" y="606247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5733288" y="60624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6922008" y="606247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offset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025128" y="606247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457200" y="6245352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521208" y="626364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24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886968" y="626364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GoDaddy Subscriptions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3904488" y="626364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49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4544568" y="626364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5093208" y="626364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733288" y="62636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6922008" y="62636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none,offset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9025128" y="62636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457200" y="6446520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521208" y="646480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886968" y="646480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GoDaddy Shoppers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3904488" y="646480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52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544568" y="646480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093208" y="646480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733288" y="64648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922008" y="646480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9025128" y="646480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Per-API results — APIs 26–50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36576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143560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301752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3560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417320"/>
            <a:ext cx="64008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04488" y="143560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KB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54864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3560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417320"/>
            <a:ext cx="64008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3208" y="143560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Jobs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1417320"/>
            <a:ext cx="118872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33288" y="1435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Auth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1417320"/>
            <a:ext cx="210312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22008" y="143560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Pagination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417320"/>
            <a:ext cx="2651760" cy="201168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128" y="143560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Status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618488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163677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163677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GoDaddy Aftermarket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4488" y="16367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163677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3208" y="16367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3288" y="163677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163677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5128" y="1636776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1819656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" y="183794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183794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GoDaddy Certificates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04488" y="183794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4568" y="183794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93208" y="183794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33288" y="18379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2008" y="183794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none,offset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8" y="183794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020824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" y="203911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" y="203911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SendGrid Email Activity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04488" y="203911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1515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44568" y="203911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93208" y="203911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33288" y="203911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22008" y="203911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cursor,none,offset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25128" y="203911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221992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1208" y="224028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" y="224028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Slack Web API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04488" y="22402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975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44568" y="224028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80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93208" y="22402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33288" y="224028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OAUTH2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22008" y="224028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cursor,none,page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25128" y="224028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2423160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1208" y="244144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" y="244144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SoundCloud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04488" y="24414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144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44568" y="24414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93208" y="24414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33288" y="244144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22008" y="244144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none,offset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25128" y="244144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2624328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1208" y="264261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6968" y="26426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Spotify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04488" y="264261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44568" y="264261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93208" y="264261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33288" y="264261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22008" y="264261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25128" y="2642616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3333"/>
                </a:solidFill>
                <a:latin typeface="Inter"/>
              </a:rPr>
              <a:t>✗ fetch: HTTPError: HTTP Error 404: Not 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2825496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21208" y="284378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6968" y="284378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Square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04488" y="284378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44568" y="284378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93208" y="284378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33288" y="284378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22008" y="284378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25128" y="284378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3333"/>
                </a:solidFill>
                <a:latin typeface="Inter"/>
              </a:rPr>
              <a:t>✗ fetch: HTTPError: HTTP Error 404: Not 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3026664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1208" y="304495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6968" y="3044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Stripe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04488" y="304495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44568" y="3044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93208" y="304495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733288" y="3044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22008" y="304495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25128" y="304495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3333"/>
                </a:solidFill>
                <a:latin typeface="Inter"/>
              </a:rPr>
              <a:t>✗ fetch: ValueError: spec exceeds 400000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3227832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21208" y="32461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" y="32461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Twilio Messaging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04488" y="324612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44568" y="32461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093208" y="324612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733288" y="324612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22008" y="324612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025128" y="324612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3333"/>
                </a:solidFill>
                <a:latin typeface="Inter"/>
              </a:rPr>
              <a:t>✗ fetch: HTTPError: HTTP Error 404: Not 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" y="3429000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21208" y="344728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86968" y="344728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Vimeo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04488" y="344728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973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44568" y="34472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100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93208" y="344728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733288" y="344728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BEARER_TKN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922008" y="344728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none,offset,page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25128" y="344728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3630168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21208" y="364845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86968" y="364845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Walmart Marketplace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904488" y="364845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44568" y="364845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093208" y="364845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33288" y="364845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22008" y="364845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25128" y="3648456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3333"/>
                </a:solidFill>
                <a:latin typeface="Inter"/>
              </a:rPr>
              <a:t>✗ fetch: HTTPError: HTTP Error 404: Not 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3831336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21208" y="384962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37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86968" y="384962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Xero Accounting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904488" y="384962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544568" y="384962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093208" y="384962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733288" y="384962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922008" y="384962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25128" y="384962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3333"/>
                </a:solidFill>
                <a:latin typeface="Inter"/>
              </a:rPr>
              <a:t>✗ fetch: HTTPError: HTTP Error 404: Not 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57200" y="4032504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21208" y="405079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38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86968" y="405079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Tradier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904488" y="405079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544568" y="405079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093208" y="405079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733288" y="40507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22008" y="405079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25128" y="405079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3333"/>
                </a:solidFill>
                <a:latin typeface="Inter"/>
              </a:rPr>
              <a:t>✗ fetch: HTTPError: HTTP Error 404: Not 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4233672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21208" y="42519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86968" y="425196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Datumbox ML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904488" y="425196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544568" y="42519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093208" y="425196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733288" y="42519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922008" y="425196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025128" y="425196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57200" y="4434840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21208" y="445312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86968" y="445312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Account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904488" y="44531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207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544568" y="44531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093208" y="44531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733288" y="445312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922008" y="445312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025128" y="445312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7200" y="4636008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21208" y="465429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86968" y="465429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Fund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904488" y="46542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80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544568" y="465429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093208" y="46542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733288" y="4654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922008" y="465429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025128" y="4654296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57200" y="4837176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21208" y="485546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42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86968" y="485546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Hop (Onboarding)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904488" y="48554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27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544568" y="485546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093208" y="485546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733288" y="48554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922008" y="485546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025128" y="485546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57200" y="5038344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21208" y="505663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43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86968" y="505663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Legal Entity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904488" y="50566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223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544568" y="505663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093208" y="50566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733288" y="505663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922008" y="505663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025128" y="505663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457200" y="5239512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21208" y="525780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44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86968" y="525780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Transfers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904488" y="525780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83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544568" y="525780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093208" y="525780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733288" y="52578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922008" y="525780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cursor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9025128" y="525780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57200" y="5440680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521208" y="54589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45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886968" y="545896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Stored Value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904488" y="545896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45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544568" y="545896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5093208" y="545896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733288" y="54589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922008" y="54589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9025128" y="54589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457200" y="5641848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21208" y="5660136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46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86968" y="566013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Balance Control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904488" y="566013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11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4544568" y="566013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5093208" y="566013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5733288" y="566013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922008" y="566013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9025128" y="5660136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457200" y="5843016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521208" y="586130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47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886968" y="586130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Balance Platform Cfg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904488" y="586130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304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544568" y="58613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8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5093208" y="586130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8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5733288" y="58613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6922008" y="586130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none,offset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9025128" y="586130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457200" y="6044184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521208" y="6062472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48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886968" y="606247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Adyen Test Cards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3904488" y="606247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10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4544568" y="60624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5093208" y="606247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5733288" y="60624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API_KEY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6922008" y="606247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025128" y="606247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457200" y="6245352"/>
            <a:ext cx="11155680" cy="201168"/>
          </a:xfrm>
          <a:prstGeom prst="rect">
            <a:avLst/>
          </a:prstGeom>
          <a:solidFill>
            <a:srgbClr val="F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521208" y="626364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49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886968" y="626364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Slack AI Plugin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3904488" y="626364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2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4544568" y="626364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5093208" y="626364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733288" y="62636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6922008" y="62636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—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9025128" y="62636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08C00"/>
                </a:solidFill>
                <a:latin typeface="Inter"/>
              </a:rPr>
              <a:t>● disc only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457200" y="6446520"/>
            <a:ext cx="111556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521208" y="646480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50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886968" y="646480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GoDaddy Agreements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3904488" y="646480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544568" y="646480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093208" y="646480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1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733288" y="64648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NO_AUTH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922008" y="646480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Inter"/>
              </a:rPr>
              <a:t>none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9025128" y="646480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9845"/>
                </a:solidFill>
                <a:latin typeface="Inter"/>
              </a:rPr>
              <a:t>✓ 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fallback (only when needed)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r>
              <a:t>Verbose ~3000-token prompt, Qwen-tuned for small local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54864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73152" cy="4572000"/>
          </a:xfrm>
          <a:prstGeom prst="rect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7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9416C"/>
                </a:solidFill>
                <a:latin typeface="Inter"/>
              </a:rPr>
              <a:t>When the LLM is invoked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599"/>
            <a:ext cx="502920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Inter"/>
              </a:rPr>
              <a:t>•  Never — for valid OpenAPI/Swagger specs (deterministic parser handles them)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Inter"/>
              </a:rPr>
              <a:t>•  Never — for specs with 0 GET list endpoints (returns clear error instead)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Inter"/>
              </a:rPr>
              <a:t>•  Only — for freeform HTML/markdown API docs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Inter"/>
              </a:rPr>
              <a:t>•  78% of the 50-SaaS test ran with zero LLM calls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74519"/>
            <a:ext cx="54864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74519"/>
            <a:ext cx="73152" cy="4572000"/>
          </a:xfrm>
          <a:prstGeom prst="rect">
            <a:avLst/>
          </a:prstGeom>
          <a:solidFill>
            <a:srgbClr val="00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7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9416C"/>
                </a:solidFill>
                <a:latin typeface="Inter"/>
              </a:rPr>
              <a:t>Qwen / small-LLM optimizations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14599"/>
            <a:ext cx="502920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/no_think suffix on Qwen3 — skips 3000+ reasoning tokens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format: "json" with temperature 0.1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num_ctx 8192, num_predict 4096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keep_alive 5m — model stays resident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Strip stray &lt;think&gt; blocks from response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3000-token prompt with 8 worked examples + 11 failure modes + 10 edge cases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Long prompts produce CORRECT JSON one-shot; short prompts retry 2-3×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r>
              <a:t>Single Docker image, healthy on first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11247120" cy="2011680"/>
          </a:xfrm>
          <a:prstGeom prst="rect">
            <a:avLst/>
          </a:prstGeom>
          <a:solidFill>
            <a:srgbClr val="194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7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"/>
              </a:rPr>
              <a:t>Quick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59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0CFC9"/>
                </a:solidFill>
                <a:latin typeface="Consolas"/>
              </a:rPr>
              <a:t>$ docker build -t saas-to-talend .</a:t>
            </a:r>
          </a:p>
          <a:p>
            <a:r>
              <a:rPr sz="1300">
                <a:solidFill>
                  <a:srgbClr val="10CFC9"/>
                </a:solidFill>
                <a:latin typeface="Consolas"/>
              </a:rPr>
              <a:t>$ docker run -d -p 3000:3000 -v saas-talend-data:/opt/app/server/data saas-to-talend</a:t>
            </a:r>
          </a:p>
          <a:p>
            <a:r>
              <a:rPr sz="1300">
                <a:solidFill>
                  <a:srgbClr val="10CFC9"/>
                </a:solidFill>
                <a:latin typeface="Consolas"/>
              </a:rPr>
              <a:t>$ open http://localhost:3000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6052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160520"/>
            <a:ext cx="73152" cy="2194560"/>
          </a:xfrm>
          <a:prstGeom prst="rect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9416C"/>
                </a:solidFill>
                <a:latin typeface="Inter"/>
              </a:rPr>
              <a:t>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5029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github.com/robertschoenfeldqlik/saas_to_talend_utility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Branch: main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Java + Express + React in one repo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Multi-stage Dockerfile + docker-compose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16052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4160520"/>
            <a:ext cx="73152" cy="2194560"/>
          </a:xfrm>
          <a:prstGeom prst="rect">
            <a:avLst/>
          </a:prstGeom>
          <a:solidFill>
            <a:srgbClr val="00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297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9416C"/>
                </a:solidFill>
                <a:latin typeface="Inter"/>
              </a:rPr>
              <a:t>Container 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709160"/>
            <a:ext cx="5029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Image size: ~520 MB (Temurin JRE + Node + app)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Cold start to healthy: ~12 s on a laptop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Both /api/health + /api/engine/health probes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Volume persists SQLite + AI settings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Inter"/>
              </a:rPr>
              <a:t>•  tini supervisor restarts on child death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lik Color Palette">
      <a:dk1>
        <a:srgbClr val="545659"/>
      </a:dk1>
      <a:lt1>
        <a:srgbClr val="FFFFFF"/>
      </a:lt1>
      <a:dk2>
        <a:srgbClr val="19416C"/>
      </a:dk2>
      <a:lt2>
        <a:srgbClr val="F6F7F8"/>
      </a:lt2>
      <a:accent1>
        <a:srgbClr val="009845"/>
      </a:accent1>
      <a:accent2>
        <a:srgbClr val="19416C"/>
      </a:accent2>
      <a:accent3>
        <a:srgbClr val="006580"/>
      </a:accent3>
      <a:accent4>
        <a:srgbClr val="10CFC9"/>
      </a:accent4>
      <a:accent5>
        <a:srgbClr val="93579C"/>
      </a:accent5>
      <a:accent6>
        <a:srgbClr val="A9B3B6"/>
      </a:accent6>
      <a:hlink>
        <a:srgbClr val="19406C"/>
      </a:hlink>
      <a:folHlink>
        <a:srgbClr val="2D3543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Qlik Powerpoint_INSTRUCTIONS" id="{C118317D-9FB4-8C45-8421-2F4B74AF6920}" vid="{2874E7B9-0DC7-9C48-8302-25758D8B1A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427728134D8E438DB24F119626A238" ma:contentTypeVersion="14" ma:contentTypeDescription="Create a new document." ma:contentTypeScope="" ma:versionID="15b1c6c9529409184464fb081f076c90">
  <xsd:schema xmlns:xsd="http://www.w3.org/2001/XMLSchema" xmlns:xs="http://www.w3.org/2001/XMLSchema" xmlns:p="http://schemas.microsoft.com/office/2006/metadata/properties" xmlns:ns2="29080d49-e7be-4021-9aa2-ece0e2248fc1" xmlns:ns3="daa02f57-d242-484a-912c-78bcbabd3955" targetNamespace="http://schemas.microsoft.com/office/2006/metadata/properties" ma:root="true" ma:fieldsID="73ad68e9809497096c217967fc7c474d" ns2:_="" ns3:_="">
    <xsd:import namespace="29080d49-e7be-4021-9aa2-ece0e2248fc1"/>
    <xsd:import namespace="daa02f57-d242-484a-912c-78bcbabd39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080d49-e7be-4021-9aa2-ece0e2248f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23ae771-9a71-45a4-863b-ab0f59569b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a02f57-d242-484a-912c-78bcbabd395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33981fe-ff8f-4cec-a916-8d5a12fc0ecc}" ma:internalName="TaxCatchAll" ma:showField="CatchAllData" ma:web="daa02f57-d242-484a-912c-78bcbabd39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9080d49-e7be-4021-9aa2-ece0e2248fc1">
      <Terms xmlns="http://schemas.microsoft.com/office/infopath/2007/PartnerControls"/>
    </lcf76f155ced4ddcb4097134ff3c332f>
    <TaxCatchAll xmlns="daa02f57-d242-484a-912c-78bcbabd3955" xsi:nil="true"/>
  </documentManagement>
</p:properties>
</file>

<file path=customXml/itemProps1.xml><?xml version="1.0" encoding="utf-8"?>
<ds:datastoreItem xmlns:ds="http://schemas.openxmlformats.org/officeDocument/2006/customXml" ds:itemID="{27B402B2-5E60-49FD-87AE-AA5D925E6535}"/>
</file>

<file path=customXml/itemProps2.xml><?xml version="1.0" encoding="utf-8"?>
<ds:datastoreItem xmlns:ds="http://schemas.openxmlformats.org/officeDocument/2006/customXml" ds:itemID="{24F34C0B-EB86-4B76-A0DD-34D59967CAC8}"/>
</file>

<file path=customXml/itemProps3.xml><?xml version="1.0" encoding="utf-8"?>
<ds:datastoreItem xmlns:ds="http://schemas.openxmlformats.org/officeDocument/2006/customXml" ds:itemID="{8BB892D9-32AE-49BC-8B71-5E32C1BA7217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1668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Courier New</vt:lpstr>
      <vt:lpstr>Inter SemiBold</vt:lpstr>
      <vt:lpstr>Inter Light</vt:lpstr>
      <vt:lpstr>Arial</vt:lpstr>
      <vt:lpstr>Arial</vt:lpstr>
      <vt:lpstr>Calibri</vt:lpstr>
      <vt:lpstr>Inter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Swenson,Emily Claire</dc:creator>
  <cp:keywords/>
  <dc:description/>
  <cp:lastModifiedBy>Nicole Boyd</cp:lastModifiedBy>
  <cp:revision>61</cp:revision>
  <dcterms:created xsi:type="dcterms:W3CDTF">2023-12-06T17:57:31Z</dcterms:created>
  <dcterms:modified xsi:type="dcterms:W3CDTF">2024-04-30T12:00:03Z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0x0101001F427728134D8E438DB24F119626A238</vt:lpwstr>
  </property>
</Properties>
</file>